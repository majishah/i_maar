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474" r:id="rId3"/>
    <p:sldId id="475" r:id="rId4"/>
    <p:sldId id="476" r:id="rId5"/>
    <p:sldId id="4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A956B-6CF7-4216-8BB4-72BF8E720844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C481D-96C8-49BB-84E6-10FECD447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24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679EE0-DEE4-0442-60A9-D709D952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0385438-BE6D-53B1-D75C-F4817EA30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ABEC0704-28D5-DF53-8DC0-BBF37C0753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23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39D09DC-60E9-DD1D-F897-F5A81F25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D6D25B7-8624-3B9E-EBE1-80F8171DB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35F926F-1263-87EB-96F1-943AD587D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707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DCAE8D-768B-5EFF-2F67-85917AB0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01055FB1-F475-13B3-FA9A-9D739DB9C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082F9A0-C459-6BBE-FE00-41A8952F4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033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A2F1FB4-9829-303B-330B-319B6779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4C9728BB-B2BA-1BC5-23E0-0806E4B5F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B11641E2-A966-6021-E2F6-A747E7D16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30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4071-8AEE-4388-CAEB-93804286B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2B7B4-C622-36FB-5635-32973A3D3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059B-B62D-7C60-B236-C467F4DE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A2CC-2D40-8D08-3744-742D0B37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CF69B-5AD3-D574-A95A-665BED6E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82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0694-95FC-AABC-7DE2-011668C5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458C-594C-36D0-FB76-FC90D9EC7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2A544-16CD-74AE-037C-60C46A3E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4B86-B68E-30EE-17F1-6B476250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D605C-B16F-32B2-CE39-C4D159C1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5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6B10-747C-6C9E-196F-F078E535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8C54D-263D-7BEA-AA24-1F65A2253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21200-67FF-BA5E-2D66-1DEFF818D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227C1-21AF-63FC-2E41-FD4E8140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A3B1D-C526-F841-AA02-0664FA69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98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0520-4691-937C-9A80-E9F3C22C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9C9F-F508-18D8-356F-7EC534AC0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BB61A-81B8-D46A-5EBE-DA0A09488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EE6E1-795B-2930-712B-ECDF45A6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25F7B-7EE6-A160-D786-033AC011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2AF5C-18E9-87AF-2738-6413842E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50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CD23-908A-47EF-3521-47AD1CB7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66A74-A243-AAF5-1DF9-BBA57644A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4F7C8-B713-9A6C-B3A9-E683358FD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AEC38-47A3-9A40-92B6-959ED945C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66999-D1EA-D29C-C0FF-C3113C7ED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0CE95-3DB1-28A2-2BDD-D770E27F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0743F-FB79-D9E7-A4E6-4117CEF7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D30BA-73C5-B85F-B760-7D61CDCD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5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1A11-0938-16D9-577A-2947AF1F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64753-9C08-0DED-6D54-2689BA8D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4DF9E-668E-3052-534C-21EF572E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22D3B-7077-CB4B-F298-020533E1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67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CD626-D255-6BB7-8E77-EF1DADE5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F79C2-E9AA-7882-E121-1BB962DE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B1503-B607-BDBA-66C5-87708173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51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CC98-BA81-8BFA-8963-023B0BA8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EBB6B-0CAD-A056-8C74-395B63425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435F5-ABBD-57AA-BD8B-A34C9EADF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34FF4-F9CE-0444-80BA-E2618E22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3F49D-D29D-F457-B511-2DA6755C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14AE9-AED8-25FD-C9D3-6E9E4150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15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8334-8261-4F75-3D3C-72786697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9BB20C-F7B8-18D1-F46A-19EC62E51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8973F-038F-0924-DDF5-A8CAF2127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46C8B-E709-51F3-005B-9744B838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583E1-A392-D69D-CC4E-B2ED3688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C6B6F-6910-762D-C88D-FFE53998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55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4C2E-3FD6-2EE3-3513-DF21C5AE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54596-21C8-D71C-83EB-67F3628F6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ED5D0-EE47-5118-8558-D04A37B9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8012-D650-0E1D-22D9-53742A98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6F25-C13E-248F-F501-BD517BE1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17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C6E3A-D5C5-2DC6-4D69-F2E9722D8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E9123-FE5F-D7F6-8BFA-0E6165820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B1EE-0C90-F9FE-3CEA-514ABABA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7A424-9C18-8376-C2AA-3517C3D6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9AF7-2D14-6B18-982D-F2AE64D2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59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3200"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6724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C8C19-D238-F952-BD57-B26783AC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EF97A-52F0-6C63-FA8F-E0102EF62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6DAE7-A921-8AAC-4E46-1C6ECDB41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8AD07-FB9B-4E4C-BA2E-8FCA7431A15C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D5A9-C419-DBED-C199-F2CEDB480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5059B-2DFB-1D4A-803B-C33AC31F7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68673-3290-488F-A3E8-137B0D033E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41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A959-7A85-CA4E-BCF3-0D86E6052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7777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-MAAR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B9C18-E514-BA54-9060-A6B4D0D2B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9056" y="2865748"/>
            <a:ext cx="8678944" cy="203619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Algorithm: 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data, Adaptability ,Regression, AutoML ,Drift Detector, Interpretability (SARADI) 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34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4B8C6F6-76EA-B349-E1BD-8542B4AE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93728BD-609B-F09A-652E-D568F38019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3283" y="6333135"/>
            <a:ext cx="1174163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rgbClr val="3399FF"/>
                </a:solidFill>
              </a:rPr>
              <a:pPr/>
              <a:t>2</a:t>
            </a:fld>
            <a:endParaRPr dirty="0">
              <a:solidFill>
                <a:srgbClr val="3399FF"/>
              </a:solidFill>
            </a:endParaRPr>
          </a:p>
        </p:txBody>
      </p:sp>
      <p:pic>
        <p:nvPicPr>
          <p:cNvPr id="5" name="Picture 4" descr="IIT_Logo-removebg.png">
            <a:extLst>
              <a:ext uri="{FF2B5EF4-FFF2-40B4-BE49-F238E27FC236}">
                <a16:creationId xmlns:a16="http://schemas.microsoft.com/office/drawing/2014/main" id="{B70AFFCD-74BB-B271-E3EF-9E75AACD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456" y="109239"/>
            <a:ext cx="1905008" cy="812275"/>
          </a:xfrm>
          <a:prstGeom prst="rect">
            <a:avLst/>
          </a:prstGeom>
        </p:spPr>
      </p:pic>
      <p:graphicFrame>
        <p:nvGraphicFramePr>
          <p:cNvPr id="16" name="Google Shape;119;p21">
            <a:extLst>
              <a:ext uri="{FF2B5EF4-FFF2-40B4-BE49-F238E27FC236}">
                <a16:creationId xmlns:a16="http://schemas.microsoft.com/office/drawing/2014/main" id="{71F0CA63-5973-1853-921A-8EDD71073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7294543"/>
              </p:ext>
            </p:extLst>
          </p:nvPr>
        </p:nvGraphicFramePr>
        <p:xfrm>
          <a:off x="431372" y="1611694"/>
          <a:ext cx="11173024" cy="7391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7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1588590557"/>
                    </a:ext>
                  </a:extLst>
                </a:gridCol>
                <a:gridCol w="3110845">
                  <a:extLst>
                    <a:ext uri="{9D8B030D-6E8A-4147-A177-3AD203B41FA5}">
                      <a16:colId xmlns:a16="http://schemas.microsoft.com/office/drawing/2014/main" val="214572139"/>
                    </a:ext>
                  </a:extLst>
                </a:gridCol>
              </a:tblGrid>
              <a:tr h="739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REF. NO &amp; Year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DATA SET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STREAM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ADAPTABLE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latin typeface="Times New Roman" pitchFamily="18" charset="0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REGRESSION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AUTOML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CONCEPT DRIFT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INTERPRETABLE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REMARKS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0B455A-1EE6-89D4-92C6-3AAEAEAFC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25003"/>
              </p:ext>
            </p:extLst>
          </p:nvPr>
        </p:nvGraphicFramePr>
        <p:xfrm>
          <a:off x="452487" y="2350866"/>
          <a:ext cx="11151909" cy="345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3194">
                  <a:extLst>
                    <a:ext uri="{9D8B030D-6E8A-4147-A177-3AD203B41FA5}">
                      <a16:colId xmlns:a16="http://schemas.microsoft.com/office/drawing/2014/main" val="901811675"/>
                    </a:ext>
                  </a:extLst>
                </a:gridCol>
                <a:gridCol w="14045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01421">
                  <a:extLst>
                    <a:ext uri="{9D8B030D-6E8A-4147-A177-3AD203B41FA5}">
                      <a16:colId xmlns:a16="http://schemas.microsoft.com/office/drawing/2014/main" val="1305261954"/>
                    </a:ext>
                  </a:extLst>
                </a:gridCol>
              </a:tblGrid>
              <a:tr h="77032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1" kern="1200" dirty="0" err="1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i</a:t>
                      </a: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-MAAR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Drift Impact , SHAP value based Model Adaptations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78856668"/>
                  </a:ext>
                </a:extLst>
              </a:tr>
              <a:tr h="6881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Times New Roman" pitchFamily="18" charset="0"/>
                          <a:cs typeface="Times New Roman" pitchFamily="18" charset="0"/>
                        </a:rPr>
                        <a:t>1 [2025]</a:t>
                      </a:r>
                      <a:endParaRPr sz="11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Kaggle- CAMP  (Asthma)</a:t>
                      </a:r>
                      <a:endParaRPr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Counter Factual Analysis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3282859705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2 [2024]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EMX,SCM,MTR etc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Multi-Target Prediction-Ensemble Model, Model Replacement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53657862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3 [2023]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Elec,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Covtec</a:t>
                      </a:r>
                      <a:endParaRPr lang="en-IN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Explainability is added as visualizations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407095848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4 [2024]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STGR,AQS ETC…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Recurrent Drift Focused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204720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0A7D510-8871-4587-FD31-92C41E88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71" y="410827"/>
            <a:ext cx="10712429" cy="9368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‘SARADI’ TEST ON STATE-OF-ART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98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6DBD2AC-A614-FAD5-9001-617B983E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54330171-1C06-9E1B-8159-7224D8209D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3283" y="6333135"/>
            <a:ext cx="1174163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rgbClr val="3399FF"/>
                </a:solidFill>
              </a:rPr>
              <a:pPr/>
              <a:t>3</a:t>
            </a:fld>
            <a:endParaRPr dirty="0">
              <a:solidFill>
                <a:srgbClr val="3399FF"/>
              </a:solidFill>
            </a:endParaRPr>
          </a:p>
        </p:txBody>
      </p:sp>
      <p:pic>
        <p:nvPicPr>
          <p:cNvPr id="5" name="Picture 4" descr="IIT_Logo-removebg.png">
            <a:extLst>
              <a:ext uri="{FF2B5EF4-FFF2-40B4-BE49-F238E27FC236}">
                <a16:creationId xmlns:a16="http://schemas.microsoft.com/office/drawing/2014/main" id="{14A4A9EC-B823-0CE0-BD44-15AB1869C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456" y="109239"/>
            <a:ext cx="1905008" cy="812275"/>
          </a:xfrm>
          <a:prstGeom prst="rect">
            <a:avLst/>
          </a:prstGeom>
        </p:spPr>
      </p:pic>
      <p:graphicFrame>
        <p:nvGraphicFramePr>
          <p:cNvPr id="16" name="Google Shape;119;p21">
            <a:extLst>
              <a:ext uri="{FF2B5EF4-FFF2-40B4-BE49-F238E27FC236}">
                <a16:creationId xmlns:a16="http://schemas.microsoft.com/office/drawing/2014/main" id="{6C2442C4-42A6-A3E3-7F1F-356E75B536E5}"/>
              </a:ext>
            </a:extLst>
          </p:cNvPr>
          <p:cNvGraphicFramePr/>
          <p:nvPr/>
        </p:nvGraphicFramePr>
        <p:xfrm>
          <a:off x="431372" y="1611694"/>
          <a:ext cx="11173024" cy="7391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7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1588590557"/>
                    </a:ext>
                  </a:extLst>
                </a:gridCol>
                <a:gridCol w="3110845">
                  <a:extLst>
                    <a:ext uri="{9D8B030D-6E8A-4147-A177-3AD203B41FA5}">
                      <a16:colId xmlns:a16="http://schemas.microsoft.com/office/drawing/2014/main" val="214572139"/>
                    </a:ext>
                  </a:extLst>
                </a:gridCol>
              </a:tblGrid>
              <a:tr h="739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REF. NO &amp; Year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DATA SET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STREAM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ADAPTABLE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latin typeface="Times New Roman" pitchFamily="18" charset="0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REGRESSION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AUTOML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CONCEPT DRIFT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INTERPRETABLE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REMARKS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90CB8A-C771-0596-65A8-9557C8712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307210"/>
              </p:ext>
            </p:extLst>
          </p:nvPr>
        </p:nvGraphicFramePr>
        <p:xfrm>
          <a:off x="431371" y="2350866"/>
          <a:ext cx="11173025" cy="345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1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5586">
                  <a:extLst>
                    <a:ext uri="{9D8B030D-6E8A-4147-A177-3AD203B41FA5}">
                      <a16:colId xmlns:a16="http://schemas.microsoft.com/office/drawing/2014/main" val="901811675"/>
                    </a:ext>
                  </a:extLst>
                </a:gridCol>
                <a:gridCol w="14072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07294">
                  <a:extLst>
                    <a:ext uri="{9D8B030D-6E8A-4147-A177-3AD203B41FA5}">
                      <a16:colId xmlns:a16="http://schemas.microsoft.com/office/drawing/2014/main" val="1305261954"/>
                    </a:ext>
                  </a:extLst>
                </a:gridCol>
              </a:tblGrid>
              <a:tr h="7703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5    [2024]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Parkinson’s, EEG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Hoeffding Tree based Classification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78856668"/>
                  </a:ext>
                </a:extLst>
              </a:tr>
              <a:tr h="6881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6    [2024]</a:t>
                      </a:r>
                      <a:endParaRPr lang="en-IN" sz="11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Doha Traffic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 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LSTM-32 altered, MAE, MSE, RMSE, MAPE are compared with different general models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282859705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7     [2025]</a:t>
                      </a:r>
                      <a:endParaRPr sz="11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Many</a:t>
                      </a:r>
                      <a:endParaRPr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IN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Feature Engineering focused use of AutoML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453657862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8   [2025]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Bike, Friedman etc..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100" dirty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Followed an Ensemble Approach, Compared only RMSE score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407095848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9   [2024]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Real-data(China)</a:t>
                      </a:r>
                      <a:endParaRPr lang="en-IN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US" sz="11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Prediction in one-day before with common algorithms, MAPE, RMSE,R2 are compared. 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204720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7E59884-F8B9-7618-932E-CAE4B93B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71" y="410827"/>
            <a:ext cx="10712429" cy="9368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‘SARADI’ TEST ON STATE-OF-ART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58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5945FEE-2D66-5DC3-8EE2-9F05877C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BE7783B-7A1B-F19B-3EEC-8E81CBF92C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3283" y="6333135"/>
            <a:ext cx="1174163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rgbClr val="3399FF"/>
                </a:solidFill>
              </a:rPr>
              <a:pPr/>
              <a:t>4</a:t>
            </a:fld>
            <a:endParaRPr dirty="0">
              <a:solidFill>
                <a:srgbClr val="3399FF"/>
              </a:solidFill>
            </a:endParaRPr>
          </a:p>
        </p:txBody>
      </p:sp>
      <p:pic>
        <p:nvPicPr>
          <p:cNvPr id="5" name="Picture 4" descr="IIT_Logo-removebg.png">
            <a:extLst>
              <a:ext uri="{FF2B5EF4-FFF2-40B4-BE49-F238E27FC236}">
                <a16:creationId xmlns:a16="http://schemas.microsoft.com/office/drawing/2014/main" id="{FDB2725D-670C-E742-9A03-3E63AEA6C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456" y="109240"/>
            <a:ext cx="1905008" cy="524800"/>
          </a:xfrm>
          <a:prstGeom prst="rect">
            <a:avLst/>
          </a:prstGeom>
        </p:spPr>
      </p:pic>
      <p:graphicFrame>
        <p:nvGraphicFramePr>
          <p:cNvPr id="16" name="Google Shape;119;p21">
            <a:extLst>
              <a:ext uri="{FF2B5EF4-FFF2-40B4-BE49-F238E27FC236}">
                <a16:creationId xmlns:a16="http://schemas.microsoft.com/office/drawing/2014/main" id="{5BA3067B-00D9-A1C5-DD68-6F8BC3627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132428"/>
              </p:ext>
            </p:extLst>
          </p:nvPr>
        </p:nvGraphicFramePr>
        <p:xfrm>
          <a:off x="515332" y="1347627"/>
          <a:ext cx="11161336" cy="7391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1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7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96824">
                  <a:extLst>
                    <a:ext uri="{9D8B030D-6E8A-4147-A177-3AD203B41FA5}">
                      <a16:colId xmlns:a16="http://schemas.microsoft.com/office/drawing/2014/main" val="1588590557"/>
                    </a:ext>
                  </a:extLst>
                </a:gridCol>
                <a:gridCol w="2809188">
                  <a:extLst>
                    <a:ext uri="{9D8B030D-6E8A-4147-A177-3AD203B41FA5}">
                      <a16:colId xmlns:a16="http://schemas.microsoft.com/office/drawing/2014/main" val="214572139"/>
                    </a:ext>
                  </a:extLst>
                </a:gridCol>
              </a:tblGrid>
              <a:tr h="739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REF. NO &amp; Year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STREAM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ADAPTABLE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REGRESSION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AUTOML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dirty="0">
                        <a:latin typeface="Times New Roman" pitchFamily="18" charset="0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CONCEPT DRIFT</a:t>
                      </a: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INTERPRETABLE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00" b="1" dirty="0">
                        <a:solidFill>
                          <a:srgbClr val="CC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LIMITATIONS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Times New Roman"/>
                        </a:rPr>
                        <a:t>REMARKS</a:t>
                      </a:r>
                    </a:p>
                  </a:txBody>
                  <a:tcPr marL="91425" marR="91425" marT="91425" marB="91425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59933-7D57-BD78-C0EA-FCC1453CB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182382"/>
              </p:ext>
            </p:extLst>
          </p:nvPr>
        </p:nvGraphicFramePr>
        <p:xfrm>
          <a:off x="515332" y="2086799"/>
          <a:ext cx="11151909" cy="45757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9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1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3194">
                  <a:extLst>
                    <a:ext uri="{9D8B030D-6E8A-4147-A177-3AD203B41FA5}">
                      <a16:colId xmlns:a16="http://schemas.microsoft.com/office/drawing/2014/main" val="901811675"/>
                    </a:ext>
                  </a:extLst>
                </a:gridCol>
                <a:gridCol w="17085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97499">
                  <a:extLst>
                    <a:ext uri="{9D8B030D-6E8A-4147-A177-3AD203B41FA5}">
                      <a16:colId xmlns:a16="http://schemas.microsoft.com/office/drawing/2014/main" val="1305261954"/>
                    </a:ext>
                  </a:extLst>
                </a:gridCol>
              </a:tblGrid>
              <a:tr h="77032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1" kern="1200" dirty="0" err="1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i</a:t>
                      </a: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-MAAR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IN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Slight increase in complexity under very  frequent drift or  extremely low  drift thresholds, Unable to handle recurrence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drfit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Highly adaptive regression model with built-in AutoML; scales well under realistic drift scenarios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78856668"/>
                  </a:ext>
                </a:extLst>
              </a:tr>
              <a:tr h="6881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ARF</a:t>
                      </a:r>
                      <a:endParaRPr sz="11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IN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LOW</a:t>
                      </a:r>
                      <a:endParaRPr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Memory and compute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Excellent for evolving data streams with drift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859705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PAR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MEDIUM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LOW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Assumes linearity, poor under concept drift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Fast, lightweight linear model for streams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657862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OBLR </a:t>
                      </a:r>
                      <a:endParaRPr lang="it-IT" sz="1100" b="1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MEDIUM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MEDIUM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Rarely used, sensitive to priors	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Good for uncertainty estimation, less popular in practice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095848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HTR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LOW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MEDIUM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Slow adaptation, static splits	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Baseline online regression 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47201"/>
                  </a:ext>
                </a:extLst>
              </a:tr>
              <a:tr h="665956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-IT" sz="1100" b="1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LSTM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HIGH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LOW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Needs tuning, black-box, high compute	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Powerful for temporal patterns, not inherently streaming</a:t>
                      </a:r>
                      <a:endParaRPr lang="en-US" sz="1200" b="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1643045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59BE5A9-23DD-C590-E38F-336B3F44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71" y="410827"/>
            <a:ext cx="10712429" cy="936800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‘SARADI’ TEST ON COMMON STREAMING ALGORITHMS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5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3118093-3FCF-0223-A6F8-518B516C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331F62A9-1093-7B7A-59B5-C21C5C8ECE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8200" y="134081"/>
            <a:ext cx="10095600" cy="65777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/>
            <a:r>
              <a:rPr lang="en" b="1" u="sng" dirty="0">
                <a:solidFill>
                  <a:schemeClr val="bg1">
                    <a:lumMod val="50000"/>
                  </a:schemeClr>
                </a:solidFill>
                <a:uFill>
                  <a:solidFill>
                    <a:schemeClr val="bg2"/>
                  </a:solidFill>
                </a:u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b="1" u="sng" dirty="0">
              <a:solidFill>
                <a:schemeClr val="bg1">
                  <a:lumMod val="50000"/>
                </a:schemeClr>
              </a:solidFill>
              <a:uFill>
                <a:solidFill>
                  <a:schemeClr val="bg2"/>
                </a:solidFill>
              </a:u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ED2B031F-7F36-99A3-557F-2518E781D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0850" y="659875"/>
            <a:ext cx="10702399" cy="57409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79988" indent="-479988" algn="just">
              <a:spcBef>
                <a:spcPts val="533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Mahmood, S., Hasan, R., Hussain, S. and Adhikari, R., 2025. An Interpretable and Generalizable Machine Learning Model for Predicting Asthma Outcomes: Integrating AutoML and Explainable AI Techniques. 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p.15.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Stevanoski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Kostovska, A., Panov, P. and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Džeroski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2024. Change detection and adaptation in multi-target regression on data streams. Machine Learning, 113(11), pp.8585-8622.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H.,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Kantardzic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Kar, S., 2024. Explainable data stream mining: Why the new models are better. Intelligent Decision Technologies, 18(1), pp.371-385.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Halstead, B., Koh, Y.S., Riddle, P.,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Pechenizkiy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Bifet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2022, October. A probabilistic framework for adapting to changing and recurring concepts in data streams. In 2022 IEEE 9th International Conference on Data Science and Advanced Analytics (DSAA) (pp. 1-10). IEEE.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  Sharma, A., Leite, D., Demir, C. and Ngomo, A.C.N., 2024, June. Trading-off interpretability and accuracy in medical applications: a study toward optimal explainability of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hoeffding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trees. In 2024 IEEE International Conference on Fuzzy Systems (FUZZ-IEEE) (pp. 1-10). IEEE.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 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C., Zhang, B., Wang, Z., Yang, Y., Zhou, X., Pan, S. and Yu, X., 2024. Interpretable Traffic Accident Prediction: Attention Spatial–Temporal Multi-Graph Traffic Stream Learning Approach. IEEE Transactions on Intelligent Transportation Systems.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Eldeeb, H. and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Elshawi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2024. Empowering Machine Learning with Scalable Feature Engineering and Interpretable AutoML. IEEE Transactions on Artificial Intelligence, 6(2), pp.432-447.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Verma, N.,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Bifet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Pfahringer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and Bahri, M., 2025, June. Auto-Reg: A Dynamic AutoML Framework for Streaming Regression. In Pacific-Asia Conference on Knowledge Discovery and Data Mining (pp. 245-256). Singapore: Springer Nature Singapore.</a:t>
            </a:r>
          </a:p>
          <a:p>
            <a:pPr marL="479988" indent="-479988" algn="just">
              <a:spcBef>
                <a:spcPts val="533"/>
              </a:spcBef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 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Fang, H., Tan, H., Yuan, X., Lin, X., Zhao, D. and Kosonen, R., 2024. Improving the accuracy and interpretability of multi-scenario building energy consumption prediction considering characteristics of training dataset. Energy and Buildings, 324, p.114912.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597EBEAB-570A-BCC4-E4C1-D7B8F0A0DF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3283" y="6333135"/>
            <a:ext cx="1174163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rgbClr val="3399FF"/>
                </a:solidFill>
              </a:rPr>
              <a:pPr/>
              <a:t>5</a:t>
            </a:fld>
            <a:endParaRPr dirty="0">
              <a:solidFill>
                <a:srgbClr val="3399FF"/>
              </a:solidFill>
            </a:endParaRPr>
          </a:p>
        </p:txBody>
      </p:sp>
      <p:pic>
        <p:nvPicPr>
          <p:cNvPr id="5" name="Picture 4" descr="IIT_Logo-removebg.png">
            <a:extLst>
              <a:ext uri="{FF2B5EF4-FFF2-40B4-BE49-F238E27FC236}">
                <a16:creationId xmlns:a16="http://schemas.microsoft.com/office/drawing/2014/main" id="{08204626-0263-4A40-E7D9-FE0727BA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254" y="21544"/>
            <a:ext cx="1860192" cy="44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77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907</Words>
  <Application>Microsoft Office PowerPoint</Application>
  <PresentationFormat>Widescreen</PresentationFormat>
  <Paragraphs>195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Comparison of i-MAAR</vt:lpstr>
      <vt:lpstr>‘SARADI’ TEST ON STATE-OF-ART</vt:lpstr>
      <vt:lpstr>‘SARADI’ TEST ON STATE-OF-ART</vt:lpstr>
      <vt:lpstr>‘SARADI’ TEST ON COMMON STREAMING ALGORITHMS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shahad palathingal</dc:creator>
  <cp:lastModifiedBy>shahad palathingal</cp:lastModifiedBy>
  <cp:revision>68</cp:revision>
  <dcterms:created xsi:type="dcterms:W3CDTF">2025-07-23T15:01:32Z</dcterms:created>
  <dcterms:modified xsi:type="dcterms:W3CDTF">2025-07-27T02:02:39Z</dcterms:modified>
</cp:coreProperties>
</file>